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tel:2620030472" TargetMode="External"/><Relationship Id="rId2" Type="http://schemas.openxmlformats.org/officeDocument/2006/relationships/hyperlink" Target="tel:2620030468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tel:2620030528" TargetMode="External"/><Relationship Id="rId4" Type="http://schemas.openxmlformats.org/officeDocument/2006/relationships/hyperlink" Target="tel:2620030517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1051560"/>
            <a:ext cx="320040" cy="0"/>
          </a:xfrm>
          <a:prstGeom prst="line">
            <a:avLst/>
          </a:prstGeom>
          <a:ln w="12700">
            <a:solidFill>
              <a:srgbClr val="1F4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74904" y="1014983"/>
            <a:ext cx="73152" cy="73152"/>
          </a:xfrm>
          <a:prstGeom prst="ellipse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411480" y="2286000"/>
            <a:ext cx="320040" cy="0"/>
          </a:xfrm>
          <a:prstGeom prst="line">
            <a:avLst/>
          </a:prstGeom>
          <a:ln w="12700">
            <a:solidFill>
              <a:srgbClr val="1F4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4904" y="2249424"/>
            <a:ext cx="73152" cy="73152"/>
          </a:xfrm>
          <a:prstGeom prst="ellipse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411480" y="3520440"/>
            <a:ext cx="320040" cy="0"/>
          </a:xfrm>
          <a:prstGeom prst="line">
            <a:avLst/>
          </a:prstGeom>
          <a:ln w="12700">
            <a:solidFill>
              <a:srgbClr val="1F4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74904" y="3483864"/>
            <a:ext cx="73152" cy="73152"/>
          </a:xfrm>
          <a:prstGeom prst="ellipse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4754880"/>
            <a:ext cx="320040" cy="0"/>
          </a:xfrm>
          <a:prstGeom prst="line">
            <a:avLst/>
          </a:prstGeom>
          <a:ln w="12700">
            <a:solidFill>
              <a:srgbClr val="1F4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74904" y="4718304"/>
            <a:ext cx="73152" cy="73152"/>
          </a:xfrm>
          <a:prstGeom prst="ellipse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 flipH="1">
            <a:off x="11247120" y="1051560"/>
            <a:ext cx="320040" cy="0"/>
          </a:xfrm>
          <a:prstGeom prst="line">
            <a:avLst/>
          </a:prstGeom>
          <a:ln w="12700">
            <a:solidFill>
              <a:srgbClr val="1F4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1530584" y="1014983"/>
            <a:ext cx="73152" cy="73152"/>
          </a:xfrm>
          <a:prstGeom prst="ellipse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H="1">
            <a:off x="11247120" y="2286000"/>
            <a:ext cx="320040" cy="0"/>
          </a:xfrm>
          <a:prstGeom prst="line">
            <a:avLst/>
          </a:prstGeom>
          <a:ln w="12700">
            <a:solidFill>
              <a:srgbClr val="1F4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1530584" y="2249424"/>
            <a:ext cx="73152" cy="73152"/>
          </a:xfrm>
          <a:prstGeom prst="ellipse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 flipH="1">
            <a:off x="11247120" y="3520440"/>
            <a:ext cx="320040" cy="0"/>
          </a:xfrm>
          <a:prstGeom prst="line">
            <a:avLst/>
          </a:prstGeom>
          <a:ln w="12700">
            <a:solidFill>
              <a:srgbClr val="1F4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530584" y="3483864"/>
            <a:ext cx="73152" cy="73152"/>
          </a:xfrm>
          <a:prstGeom prst="ellipse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 flipH="1">
            <a:off x="11247120" y="4754880"/>
            <a:ext cx="320040" cy="0"/>
          </a:xfrm>
          <a:prstGeom prst="line">
            <a:avLst/>
          </a:prstGeom>
          <a:ln w="12700">
            <a:solidFill>
              <a:srgbClr val="1F4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1530584" y="4718304"/>
            <a:ext cx="73152" cy="73152"/>
          </a:xfrm>
          <a:prstGeom prst="ellipse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02920"/>
            <a:ext cx="10789920" cy="3477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8DCF5"/>
                </a:solidFill>
                <a:latin typeface="Aptos"/>
              </a:defRPr>
            </a:pPr>
            <a:r>
              <a:rPr dirty="0"/>
              <a:t> •  PROJECT EXPO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051560"/>
            <a:ext cx="10332720" cy="1874519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F2F7FF"/>
                </a:solidFill>
                <a:latin typeface="Aptos Display"/>
              </a:defRPr>
            </a:pPr>
            <a:r>
              <a:rPr dirty="0"/>
              <a:t>DESIGN &amp; SIMULATION OF A</a:t>
            </a:r>
          </a:p>
          <a:p>
            <a:pPr algn="ctr">
              <a:spcAft>
                <a:spcPts val="500"/>
              </a:spcAft>
              <a:defRPr sz="3000" b="1">
                <a:solidFill>
                  <a:srgbClr val="F2F7FF"/>
                </a:solidFill>
                <a:latin typeface="Aptos Display"/>
              </a:defRPr>
            </a:pPr>
            <a:r>
              <a:rPr dirty="0"/>
              <a:t>DIGITAL ERROR DETECTION SYSTEM</a:t>
            </a:r>
          </a:p>
          <a:p>
            <a:pPr algn="ctr">
              <a:spcAft>
                <a:spcPts val="500"/>
              </a:spcAft>
              <a:defRPr sz="3000" b="1">
                <a:solidFill>
                  <a:srgbClr val="F2F7FF"/>
                </a:solidFill>
                <a:latin typeface="Aptos Display"/>
              </a:defRPr>
            </a:pPr>
            <a:r>
              <a:rPr dirty="0"/>
              <a:t>USING PARITY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154680"/>
            <a:ext cx="3611880" cy="438912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07408" y="3246120"/>
            <a:ext cx="33832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8DCF5"/>
                </a:solidFill>
                <a:latin typeface="Aptos"/>
              </a:defRPr>
            </a:pPr>
            <a:r>
              <a:t>TRANSMIT  →  CHECK  →  DETECT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53812" y="3886200"/>
            <a:ext cx="1778508" cy="1051560"/>
          </a:xfrm>
          <a:prstGeom prst="roundRect">
            <a:avLst/>
          </a:prstGeom>
          <a:solidFill>
            <a:srgbClr val="162B53"/>
          </a:solidFill>
          <a:ln w="17780"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5353812" y="4169981"/>
            <a:ext cx="1778508" cy="44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28DCF5"/>
                </a:solidFill>
                <a:latin typeface="Aptos"/>
              </a:defRPr>
            </a:pPr>
            <a:r>
              <a:rPr lang="en-IN" dirty="0"/>
              <a:t>SECTION - 6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944880" y="5306880"/>
            <a:ext cx="10104120" cy="1255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Team Members: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Likhita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2620030468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                      </a:t>
            </a: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Dheeraj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2620030472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                      Rupesh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2620030517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              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Druveen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2620030528</a:t>
            </a:r>
            <a:r>
              <a:rPr dirty="0"/>
              <a:t>.]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245352"/>
            <a:ext cx="512064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B1C2DC"/>
                </a:solidFill>
                <a:latin typeface="Aptos"/>
              </a:defRPr>
            </a:pPr>
            <a:r>
              <a:t>Parity detects many transmission errors — but does not correct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8DCF5"/>
                </a:solidFill>
                <a:latin typeface="Aptos"/>
              </a:defRPr>
            </a:pPr>
            <a:r>
              <a:t>PARITY LAB  /  DIGITAL LOGIC DESIGN                                      EXPO PROJECT  •  02/06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Why parity-based error detection?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C2DC"/>
                </a:solidFill>
                <a:latin typeface="Aptos"/>
              </a:defRPr>
            </a:pPr>
            <a:r>
              <a:t>A simple extra bit helps a receiver detect whether a data word may have changed in transit.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609344"/>
            <a:ext cx="914400" cy="41148"/>
          </a:xfrm>
          <a:prstGeom prst="rect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3520440" cy="1417320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54864" cy="1417320"/>
          </a:xfrm>
          <a:prstGeom prst="rect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039112"/>
            <a:ext cx="322783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8DCF5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95728"/>
            <a:ext cx="3227832" cy="8503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Digital data can be corrupted by noise, interference, or faults during storage and transmission.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520440" cy="1417320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54864" cy="1417320"/>
          </a:xfrm>
          <a:prstGeom prst="rect">
            <a:avLst/>
          </a:prstGeom>
          <a:solidFill>
            <a:srgbClr val="A4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2039112"/>
            <a:ext cx="322783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A470FF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395728"/>
            <a:ext cx="3227832" cy="8503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Append one parity bit so the total number of 1s is even (even parity) or odd (odd parity).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20240"/>
            <a:ext cx="3520440" cy="1417320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920240"/>
            <a:ext cx="54864" cy="1417320"/>
          </a:xfrm>
          <a:prstGeom prst="rect">
            <a:avLst/>
          </a:prstGeom>
          <a:solidFill>
            <a:srgbClr val="3F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2039112"/>
            <a:ext cx="322783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FE6A5"/>
                </a:solidFill>
                <a:latin typeface="Aptos"/>
              </a:defRPr>
            </a:pPr>
            <a:r>
              <a:t>THE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395728"/>
            <a:ext cx="3227832" cy="8503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Build and simulate a logic circuit that checks parity and raises an error flag when parity is invalid.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03320"/>
            <a:ext cx="36576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8DCF5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4160520"/>
            <a:ext cx="310896" cy="310896"/>
          </a:xfrm>
          <a:prstGeom prst="ellipse">
            <a:avLst/>
          </a:prstGeom>
          <a:solidFill>
            <a:srgbClr val="193C5B"/>
          </a:solidFill>
          <a:ln w="17780">
            <a:solidFill>
              <a:srgbClr val="2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4215383"/>
            <a:ext cx="292608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8DCF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88234"/>
            <a:ext cx="97840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Generate / use a parity bit for a data word.</a:t>
            </a:r>
          </a:p>
        </p:txBody>
      </p:sp>
      <p:sp>
        <p:nvSpPr>
          <p:cNvPr id="22" name="Oval 21"/>
          <p:cNvSpPr/>
          <p:nvPr/>
        </p:nvSpPr>
        <p:spPr>
          <a:xfrm>
            <a:off x="713232" y="4636008"/>
            <a:ext cx="310896" cy="310896"/>
          </a:xfrm>
          <a:prstGeom prst="ellipse">
            <a:avLst/>
          </a:prstGeom>
          <a:solidFill>
            <a:srgbClr val="193C5B"/>
          </a:solidFill>
          <a:ln w="17780">
            <a:solidFill>
              <a:srgbClr val="2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4690872"/>
            <a:ext cx="292608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8DCF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654296"/>
            <a:ext cx="97840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Recompute parity at the receiver using XOR gates.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" y="5111496"/>
            <a:ext cx="310896" cy="310896"/>
          </a:xfrm>
          <a:prstGeom prst="ellipse">
            <a:avLst/>
          </a:prstGeom>
          <a:solidFill>
            <a:srgbClr val="193C5B"/>
          </a:solidFill>
          <a:ln w="17780">
            <a:solidFill>
              <a:srgbClr val="2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6" y="5166359"/>
            <a:ext cx="292608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8DCF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129783"/>
            <a:ext cx="97840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Compare received parity with the expected parity.</a:t>
            </a:r>
          </a:p>
        </p:txBody>
      </p:sp>
      <p:sp>
        <p:nvSpPr>
          <p:cNvPr id="28" name="Oval 27"/>
          <p:cNvSpPr/>
          <p:nvPr/>
        </p:nvSpPr>
        <p:spPr>
          <a:xfrm>
            <a:off x="713232" y="5586983"/>
            <a:ext cx="310896" cy="310896"/>
          </a:xfrm>
          <a:prstGeom prst="ellipse">
            <a:avLst/>
          </a:prstGeom>
          <a:solidFill>
            <a:srgbClr val="193C5B"/>
          </a:solidFill>
          <a:ln w="17780">
            <a:solidFill>
              <a:srgbClr val="2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2376" y="5641847"/>
            <a:ext cx="292608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8DCF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605271"/>
            <a:ext cx="97840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Validate normal and corrupted cases in Logisim.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4251960"/>
            <a:ext cx="3474720" cy="1078992"/>
          </a:xfrm>
          <a:prstGeom prst="roundRect">
            <a:avLst/>
          </a:prstGeom>
          <a:solidFill>
            <a:srgbClr val="1C2C4E"/>
          </a:solidFill>
          <a:ln w="17780"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47304" y="4379975"/>
            <a:ext cx="950976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4682FF"/>
                </a:solidFill>
                <a:latin typeface="Aptos"/>
              </a:defRPr>
            </a:pPr>
            <a:r>
              <a:rPr dirty="0"/>
              <a:t>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9" y="4547782"/>
            <a:ext cx="2971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2F7FF"/>
                </a:solidFill>
                <a:latin typeface="Aptos"/>
              </a:defRPr>
            </a:pPr>
            <a:r>
              <a:rPr dirty="0"/>
              <a:t>Single-bit parity check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2F7FF"/>
                </a:solidFill>
                <a:latin typeface="Aptos"/>
              </a:defRPr>
            </a:pPr>
            <a:r>
              <a:rPr dirty="0"/>
              <a:t>Detects odd-number bit flips; may miss even-number flips.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37960"/>
            <a:ext cx="594360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B1C2DC"/>
                </a:solidFill>
                <a:latin typeface="Aptos"/>
              </a:defRPr>
            </a:pPr>
            <a:r>
              <a:t>DESIGN • SIMULATE • 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8DCF5"/>
                </a:solidFill>
                <a:latin typeface="Aptos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8DCF5"/>
                </a:solidFill>
                <a:latin typeface="Aptos"/>
              </a:defRPr>
            </a:pPr>
            <a:r>
              <a:t>PARITY LAB  /  DIGITAL LOGIC DESIGN                                      EXPO PROJECT  •  03/06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Theory &amp; logic 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C2DC"/>
                </a:solidFill>
                <a:latin typeface="Aptos"/>
              </a:defRPr>
            </a:pPr>
            <a:r>
              <a:t>Even-parity checker for a received 4-bit data word D3 D2 D1 D0 and parity bit 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609344"/>
            <a:ext cx="914400" cy="41148"/>
          </a:xfrm>
          <a:prstGeom prst="rect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383280" cy="1261872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4864" cy="1261872"/>
          </a:xfrm>
          <a:prstGeom prst="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93391"/>
            <a:ext cx="309067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4682FF"/>
                </a:solidFill>
                <a:latin typeface="Aptos"/>
              </a:defRPr>
            </a:pPr>
            <a:r>
              <a:t>XOR PROPERTY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50008"/>
            <a:ext cx="3090672" cy="6949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A ⊕ B = 1 when inputs differ; 0 when they match.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310128"/>
            <a:ext cx="3383280" cy="1261872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3310128"/>
            <a:ext cx="54864" cy="1261872"/>
          </a:xfrm>
          <a:prstGeom prst="rect">
            <a:avLst/>
          </a:prstGeom>
          <a:solidFill>
            <a:srgbClr val="A4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3429000"/>
            <a:ext cx="309067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A470FF"/>
                </a:solidFill>
                <a:latin typeface="Aptos"/>
              </a:defRPr>
            </a:pPr>
            <a:r>
              <a:t>EVEN PARITY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785616"/>
            <a:ext cx="3090672" cy="6949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2F7FF"/>
                </a:solidFill>
                <a:latin typeface="Aptos"/>
              </a:defRPr>
            </a:pPr>
            <a:r>
              <a:t>Valid codeword has an even number of 1s: D3 ⊕ D2 ⊕ D1 ⊕ D0 ⊕ P = 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745736"/>
            <a:ext cx="3383280" cy="1078992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4745736"/>
            <a:ext cx="54864" cy="1078992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4864608"/>
            <a:ext cx="309067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FB347"/>
                </a:solidFill>
                <a:latin typeface="Aptos"/>
              </a:defRPr>
            </a:pPr>
            <a:r>
              <a:t>ERROR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221224"/>
            <a:ext cx="3090672" cy="51206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2F7FF"/>
                </a:solidFill>
                <a:latin typeface="Aptos"/>
              </a:defRPr>
            </a:pPr>
            <a:r>
              <a:t>E = D3 ⊕ D2 ⊕ D1 ⊕ D0 ⊕ P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2F7FF"/>
                </a:solidFill>
                <a:latin typeface="Aptos"/>
              </a:defRPr>
            </a:pPr>
            <a:r>
              <a:t>E=0: parity OK  •  E=1: error detected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938528"/>
            <a:ext cx="68580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28DCF5"/>
                </a:solidFill>
                <a:latin typeface="Aptos"/>
              </a:defRPr>
            </a:pPr>
            <a:r>
              <a:t>5-INPUT XOR CHECKER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404872"/>
            <a:ext cx="384048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2F7FF"/>
                </a:solidFill>
                <a:latin typeface="Aptos"/>
              </a:defRPr>
            </a:pPr>
            <a:r>
              <a:t>D3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136391"/>
            <a:ext cx="384048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2F7FF"/>
                </a:solidFill>
                <a:latin typeface="Aptos"/>
              </a:defRPr>
            </a:pPr>
            <a:r>
              <a:t>D2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867911"/>
            <a:ext cx="384048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2F7FF"/>
                </a:solidFill>
                <a:latin typeface="Aptos"/>
              </a:defRPr>
            </a:pPr>
            <a:r>
              <a:t>D1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4599432"/>
            <a:ext cx="384048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2F7FF"/>
                </a:solidFill>
                <a:latin typeface="Aptos"/>
              </a:defRPr>
            </a:pPr>
            <a:r>
              <a:t>D0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5330952"/>
            <a:ext cx="384048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2F7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24" name="Chevron 23"/>
          <p:cNvSpPr/>
          <p:nvPr/>
        </p:nvSpPr>
        <p:spPr>
          <a:xfrm>
            <a:off x="4754880" y="2633472"/>
            <a:ext cx="841248" cy="566928"/>
          </a:xfrm>
          <a:prstGeom prst="chevron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73168" y="2798064"/>
            <a:ext cx="749808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2F7FF"/>
                </a:solidFill>
                <a:latin typeface="Aptos"/>
              </a:defRPr>
            </a:pPr>
            <a:r>
              <a:t>⊕</a:t>
            </a:r>
          </a:p>
        </p:txBody>
      </p:sp>
      <p:sp>
        <p:nvSpPr>
          <p:cNvPr id="26" name="Chevron 25"/>
          <p:cNvSpPr/>
          <p:nvPr/>
        </p:nvSpPr>
        <p:spPr>
          <a:xfrm>
            <a:off x="5989320" y="3090672"/>
            <a:ext cx="841248" cy="566928"/>
          </a:xfrm>
          <a:prstGeom prst="chevron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07607" y="3255264"/>
            <a:ext cx="749808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2F7FF"/>
                </a:solidFill>
                <a:latin typeface="Aptos"/>
              </a:defRPr>
            </a:pPr>
            <a:r>
              <a:t>⊕</a:t>
            </a:r>
          </a:p>
        </p:txBody>
      </p:sp>
      <p:sp>
        <p:nvSpPr>
          <p:cNvPr id="28" name="Chevron 27"/>
          <p:cNvSpPr/>
          <p:nvPr/>
        </p:nvSpPr>
        <p:spPr>
          <a:xfrm>
            <a:off x="7223760" y="3547872"/>
            <a:ext cx="841248" cy="566928"/>
          </a:xfrm>
          <a:prstGeom prst="chevron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42048" y="3712463"/>
            <a:ext cx="749808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2F7FF"/>
                </a:solidFill>
                <a:latin typeface="Aptos"/>
              </a:defRPr>
            </a:pPr>
            <a:r>
              <a:t>⊕</a:t>
            </a:r>
          </a:p>
        </p:txBody>
      </p:sp>
      <p:sp>
        <p:nvSpPr>
          <p:cNvPr id="30" name="Chevron 29"/>
          <p:cNvSpPr/>
          <p:nvPr/>
        </p:nvSpPr>
        <p:spPr>
          <a:xfrm>
            <a:off x="8458200" y="4005072"/>
            <a:ext cx="841248" cy="566928"/>
          </a:xfrm>
          <a:prstGeom prst="chevron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76488" y="4169663"/>
            <a:ext cx="749808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2F7FF"/>
                </a:solidFill>
                <a:latin typeface="Aptos"/>
              </a:defRPr>
            </a:pPr>
            <a:r>
              <a:t>⊕</a:t>
            </a:r>
          </a:p>
        </p:txBody>
      </p:sp>
      <p:sp>
        <p:nvSpPr>
          <p:cNvPr id="32" name="Chevron 31"/>
          <p:cNvSpPr/>
          <p:nvPr/>
        </p:nvSpPr>
        <p:spPr>
          <a:xfrm>
            <a:off x="9692640" y="4462272"/>
            <a:ext cx="841248" cy="566928"/>
          </a:xfrm>
          <a:prstGeom prst="chevron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10928" y="4626864"/>
            <a:ext cx="749808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2F7FF"/>
                </a:solidFill>
                <a:latin typeface="Aptos"/>
              </a:defRPr>
            </a:pPr>
            <a:r>
              <a:t>⊕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77840" y="2926080"/>
            <a:ext cx="365760" cy="411480"/>
          </a:xfrm>
          <a:prstGeom prst="line">
            <a:avLst/>
          </a:prstGeom>
          <a:ln w="25400">
            <a:solidFill>
              <a:srgbClr val="28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12280" y="3383280"/>
            <a:ext cx="365760" cy="411480"/>
          </a:xfrm>
          <a:prstGeom prst="line">
            <a:avLst/>
          </a:prstGeom>
          <a:ln w="25400">
            <a:solidFill>
              <a:srgbClr val="28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046720" y="3840480"/>
            <a:ext cx="365760" cy="411480"/>
          </a:xfrm>
          <a:prstGeom prst="line">
            <a:avLst/>
          </a:prstGeom>
          <a:ln w="25400">
            <a:solidFill>
              <a:srgbClr val="28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281160" y="4297680"/>
            <a:ext cx="365760" cy="411480"/>
          </a:xfrm>
          <a:prstGeom prst="line">
            <a:avLst/>
          </a:prstGeom>
          <a:ln w="25400">
            <a:solidFill>
              <a:srgbClr val="28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2000" y="5440680"/>
            <a:ext cx="65836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2F7FF"/>
                </a:solidFill>
                <a:latin typeface="Aptos"/>
              </a:defRPr>
            </a:pPr>
            <a:r>
              <a:t>E = D3 ⊕ D2 ⊕ D1 ⊕ D0 ⊕ 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852160"/>
            <a:ext cx="68580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B1C2DC"/>
                </a:solidFill>
                <a:latin typeface="Aptos"/>
              </a:defRPr>
            </a:pPr>
            <a:r>
              <a:t>Use cascaded XOR gates (or a 5-input XOR equivalent). If the result is 1, the received word has odd parity.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6537960"/>
            <a:ext cx="594360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B1C2DC"/>
                </a:solidFill>
                <a:latin typeface="Aptos"/>
              </a:defRPr>
            </a:pPr>
            <a:r>
              <a:t>DESIGN • SIMULATE • VERIFY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8DCF5"/>
                </a:solidFill>
                <a:latin typeface="Aptos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8DCF5"/>
                </a:solidFill>
                <a:latin typeface="Aptos"/>
              </a:defRPr>
            </a:pPr>
            <a:r>
              <a:t>PARITY LAB  /  DIGITAL LOGIC DESIGN                                      EXPO PROJECT  •  04/06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Circuit design in Logisim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C2DC"/>
                </a:solidFill>
                <a:latin typeface="Aptos"/>
              </a:defRPr>
            </a:pPr>
            <a:r>
              <a:t>Implementation plan: use input pins, XOR gates, and an output indicator.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609344"/>
            <a:ext cx="914400" cy="41148"/>
          </a:xfrm>
          <a:prstGeom prst="rect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657600" cy="987552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4864" cy="987552"/>
          </a:xfrm>
          <a:prstGeom prst="rect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24097"/>
            <a:ext cx="3364992" cy="4206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2F7FF"/>
                </a:solidFill>
                <a:latin typeface="Aptos"/>
              </a:defRPr>
            </a:pPr>
            <a:r>
              <a:t>5 input pins: D3, D2, D1, D0, P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2F7FF"/>
                </a:solidFill>
                <a:latin typeface="Aptos"/>
              </a:defRPr>
            </a:pPr>
            <a:r>
              <a:t>4 XOR gates cascaded into one final result (5-input parity).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35808"/>
            <a:ext cx="3657600" cy="987552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3035808"/>
            <a:ext cx="54864" cy="987552"/>
          </a:xfrm>
          <a:prstGeom prst="rect">
            <a:avLst/>
          </a:prstGeom>
          <a:solidFill>
            <a:srgbClr val="46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3154679"/>
            <a:ext cx="336499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4682FF"/>
                </a:solidFill>
                <a:latin typeface="Aptos"/>
              </a:defRPr>
            </a:pPr>
            <a:r>
              <a:t>2  CONNECT THE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511296"/>
            <a:ext cx="3364992" cy="4206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2F7FF"/>
                </a:solidFill>
                <a:latin typeface="Aptos"/>
              </a:defRPr>
            </a:pPr>
            <a:r>
              <a:t>Chain XOR outputs into the next XOR input; connect the final output to 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197096"/>
            <a:ext cx="3657600" cy="987552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4197096"/>
            <a:ext cx="54864" cy="987552"/>
          </a:xfrm>
          <a:prstGeom prst="rect">
            <a:avLst/>
          </a:prstGeom>
          <a:solidFill>
            <a:srgbClr val="3F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4315968"/>
            <a:ext cx="336499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FE6A5"/>
                </a:solidFill>
                <a:latin typeface="Aptos"/>
              </a:defRPr>
            </a:pPr>
            <a:r>
              <a:t>3  TEST THE CIRCUIT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672583"/>
            <a:ext cx="3364992" cy="4206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2F7FF"/>
                </a:solidFill>
                <a:latin typeface="Aptos"/>
              </a:defRPr>
            </a:pPr>
            <a:r>
              <a:t>Toggle inputs with the poke tool. Check E against the expected parity.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440680"/>
            <a:ext cx="3657600" cy="566928"/>
          </a:xfrm>
          <a:prstGeom prst="roundRect">
            <a:avLst/>
          </a:prstGeom>
          <a:solidFill>
            <a:srgbClr val="302723"/>
          </a:solidFill>
          <a:ln w="1778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Circuit Design in Logisim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4526280" y="1856231"/>
            <a:ext cx="7059168" cy="4297680"/>
          </a:xfrm>
          <a:prstGeom prst="roundRect">
            <a:avLst/>
          </a:prstGeom>
          <a:solidFill>
            <a:srgbClr val="080E1D"/>
          </a:solidFill>
          <a:ln w="17780">
            <a:solidFill>
              <a:srgbClr val="30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1993392"/>
            <a:ext cx="65836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B1C2DC"/>
                </a:solidFill>
                <a:latin typeface="Aptos"/>
              </a:defRPr>
            </a:pPr>
            <a:r>
              <a:t>LOGISIM-STYLE CIRCUIT SCHEMATIC  •  CONCEPTUAL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2606040"/>
            <a:ext cx="621792" cy="310896"/>
          </a:xfrm>
          <a:prstGeom prst="rect">
            <a:avLst/>
          </a:prstGeom>
          <a:solidFill>
            <a:srgbClr val="192B4C"/>
          </a:solidFill>
          <a:ln w="17780"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37176" y="2670048"/>
            <a:ext cx="54864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2F7FF"/>
                </a:solidFill>
                <a:latin typeface="Aptos"/>
              </a:defRPr>
            </a:pPr>
            <a:r>
              <a:t>D3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3182112"/>
            <a:ext cx="621792" cy="310896"/>
          </a:xfrm>
          <a:prstGeom prst="rect">
            <a:avLst/>
          </a:prstGeom>
          <a:solidFill>
            <a:srgbClr val="192B4C"/>
          </a:solidFill>
          <a:ln w="17780"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37176" y="3246120"/>
            <a:ext cx="54864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2F7FF"/>
                </a:solidFill>
                <a:latin typeface="Aptos"/>
              </a:defRPr>
            </a:pPr>
            <a:r>
              <a:t>D2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3758184"/>
            <a:ext cx="621792" cy="310896"/>
          </a:xfrm>
          <a:prstGeom prst="rect">
            <a:avLst/>
          </a:prstGeom>
          <a:solidFill>
            <a:srgbClr val="192B4C"/>
          </a:solidFill>
          <a:ln w="17780"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37176" y="3822192"/>
            <a:ext cx="54864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2F7FF"/>
                </a:solidFill>
                <a:latin typeface="Aptos"/>
              </a:defRPr>
            </a:pPr>
            <a:r>
              <a:t>D1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4334256"/>
            <a:ext cx="621792" cy="310896"/>
          </a:xfrm>
          <a:prstGeom prst="rect">
            <a:avLst/>
          </a:prstGeom>
          <a:solidFill>
            <a:srgbClr val="192B4C"/>
          </a:solidFill>
          <a:ln w="17780"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37176" y="4398264"/>
            <a:ext cx="54864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2F7FF"/>
                </a:solidFill>
                <a:latin typeface="Aptos"/>
              </a:defRPr>
            </a:pPr>
            <a:r>
              <a:t>D0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4910328"/>
            <a:ext cx="621792" cy="310896"/>
          </a:xfrm>
          <a:prstGeom prst="rect">
            <a:avLst/>
          </a:prstGeom>
          <a:solidFill>
            <a:srgbClr val="192B4C"/>
          </a:solidFill>
          <a:ln w="17780"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37176" y="4974336"/>
            <a:ext cx="54864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2F7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32" name="Oval 31"/>
          <p:cNvSpPr/>
          <p:nvPr/>
        </p:nvSpPr>
        <p:spPr>
          <a:xfrm>
            <a:off x="5989320" y="2679192"/>
            <a:ext cx="685800" cy="438912"/>
          </a:xfrm>
          <a:prstGeom prst="ellipse">
            <a:avLst/>
          </a:prstGeom>
          <a:solidFill>
            <a:srgbClr val="18375E"/>
          </a:solidFill>
          <a:ln w="17780">
            <a:solidFill>
              <a:srgbClr val="2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59" y="2752344"/>
            <a:ext cx="502920" cy="2377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28DCF5"/>
                </a:solidFill>
                <a:latin typeface="Aptos"/>
              </a:defRPr>
            </a:pPr>
            <a:r>
              <a:t>⊕</a:t>
            </a:r>
          </a:p>
        </p:txBody>
      </p:sp>
      <p:sp>
        <p:nvSpPr>
          <p:cNvPr id="34" name="Oval 33"/>
          <p:cNvSpPr/>
          <p:nvPr/>
        </p:nvSpPr>
        <p:spPr>
          <a:xfrm>
            <a:off x="6903720" y="3218688"/>
            <a:ext cx="685800" cy="438912"/>
          </a:xfrm>
          <a:prstGeom prst="ellipse">
            <a:avLst/>
          </a:prstGeom>
          <a:solidFill>
            <a:srgbClr val="18375E"/>
          </a:solidFill>
          <a:ln w="17780">
            <a:solidFill>
              <a:srgbClr val="2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95159" y="3291840"/>
            <a:ext cx="502920" cy="2377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28DCF5"/>
                </a:solidFill>
                <a:latin typeface="Aptos"/>
              </a:defRPr>
            </a:pPr>
            <a:r>
              <a:t>⊕</a:t>
            </a:r>
          </a:p>
        </p:txBody>
      </p:sp>
      <p:sp>
        <p:nvSpPr>
          <p:cNvPr id="36" name="Oval 35"/>
          <p:cNvSpPr/>
          <p:nvPr/>
        </p:nvSpPr>
        <p:spPr>
          <a:xfrm>
            <a:off x="7818120" y="3758184"/>
            <a:ext cx="685800" cy="438912"/>
          </a:xfrm>
          <a:prstGeom prst="ellipse">
            <a:avLst/>
          </a:prstGeom>
          <a:solidFill>
            <a:srgbClr val="18375E"/>
          </a:solidFill>
          <a:ln w="17780">
            <a:solidFill>
              <a:srgbClr val="2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09560" y="3831336"/>
            <a:ext cx="502920" cy="2377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28DCF5"/>
                </a:solidFill>
                <a:latin typeface="Aptos"/>
              </a:defRPr>
            </a:pPr>
            <a:r>
              <a:t>⊕</a:t>
            </a:r>
          </a:p>
        </p:txBody>
      </p:sp>
      <p:sp>
        <p:nvSpPr>
          <p:cNvPr id="38" name="Oval 37"/>
          <p:cNvSpPr/>
          <p:nvPr/>
        </p:nvSpPr>
        <p:spPr>
          <a:xfrm>
            <a:off x="8732520" y="4297680"/>
            <a:ext cx="685800" cy="438912"/>
          </a:xfrm>
          <a:prstGeom prst="ellipse">
            <a:avLst/>
          </a:prstGeom>
          <a:solidFill>
            <a:srgbClr val="18375E"/>
          </a:solidFill>
          <a:ln w="17780">
            <a:solidFill>
              <a:srgbClr val="2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23960" y="4370832"/>
            <a:ext cx="502920" cy="2377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28DCF5"/>
                </a:solidFill>
                <a:latin typeface="Aptos"/>
              </a:defRPr>
            </a:pPr>
            <a:r>
              <a:t>⊕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22392" y="2761488"/>
            <a:ext cx="539496" cy="0"/>
          </a:xfrm>
          <a:prstGeom prst="line">
            <a:avLst/>
          </a:prstGeom>
          <a:ln w="15240">
            <a:solidFill>
              <a:srgbClr val="3D6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422392" y="3337560"/>
            <a:ext cx="539496" cy="0"/>
          </a:xfrm>
          <a:prstGeom prst="line">
            <a:avLst/>
          </a:prstGeom>
          <a:ln w="15240">
            <a:solidFill>
              <a:srgbClr val="3D6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422392" y="3913632"/>
            <a:ext cx="539496" cy="0"/>
          </a:xfrm>
          <a:prstGeom prst="line">
            <a:avLst/>
          </a:prstGeom>
          <a:ln w="15240">
            <a:solidFill>
              <a:srgbClr val="3D6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422392" y="4489704"/>
            <a:ext cx="539496" cy="0"/>
          </a:xfrm>
          <a:prstGeom prst="line">
            <a:avLst/>
          </a:prstGeom>
          <a:ln w="15240">
            <a:solidFill>
              <a:srgbClr val="3D6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422392" y="4754880"/>
            <a:ext cx="539496" cy="310896"/>
          </a:xfrm>
          <a:prstGeom prst="line">
            <a:avLst/>
          </a:prstGeom>
          <a:ln w="15240">
            <a:solidFill>
              <a:srgbClr val="3D6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675120" y="2898648"/>
            <a:ext cx="210312" cy="502920"/>
          </a:xfrm>
          <a:prstGeom prst="line">
            <a:avLst/>
          </a:prstGeom>
          <a:ln w="19050">
            <a:solidFill>
              <a:srgbClr val="28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589520" y="3438144"/>
            <a:ext cx="210311" cy="502919"/>
          </a:xfrm>
          <a:prstGeom prst="line">
            <a:avLst/>
          </a:prstGeom>
          <a:ln w="19050">
            <a:solidFill>
              <a:srgbClr val="28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503920" y="3977639"/>
            <a:ext cx="210312" cy="539497"/>
          </a:xfrm>
          <a:prstGeom prst="line">
            <a:avLst/>
          </a:prstGeom>
          <a:ln w="19050">
            <a:solidFill>
              <a:srgbClr val="28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418320" y="4517136"/>
            <a:ext cx="731520" cy="557784"/>
          </a:xfrm>
          <a:prstGeom prst="line">
            <a:avLst/>
          </a:prstGeom>
          <a:ln w="19050">
            <a:solidFill>
              <a:srgbClr val="3FE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0104120" y="4882896"/>
            <a:ext cx="960120" cy="475488"/>
          </a:xfrm>
          <a:prstGeom prst="roundRect">
            <a:avLst/>
          </a:prstGeom>
          <a:solidFill>
            <a:srgbClr val="11473E"/>
          </a:solidFill>
          <a:ln w="17780">
            <a:solidFill>
              <a:srgbClr val="3FE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68128" y="5020056"/>
            <a:ext cx="82296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FE6A5"/>
                </a:solidFill>
                <a:latin typeface="Aptos"/>
              </a:defRPr>
            </a:pPr>
            <a:r>
              <a:t>E FLAG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0" y="5596128"/>
            <a:ext cx="530352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2F7FF"/>
                </a:solidFill>
                <a:latin typeface="Aptos"/>
              </a:defRPr>
            </a:pPr>
            <a:r>
              <a:t>E = XOR of all 5 received bits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6547387"/>
            <a:ext cx="594360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B1C2DC"/>
                </a:solidFill>
                <a:latin typeface="Aptos"/>
              </a:defRPr>
            </a:pPr>
            <a:r>
              <a:t>DESIGN • SIMULATE • VERIFY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8DCF5"/>
                </a:solidFill>
                <a:latin typeface="Aptos"/>
              </a:defRPr>
            </a:pPr>
            <a:r>
              <a:t>4/6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35CAC1-B305-425D-85D6-D608A44D38D5}"/>
              </a:ext>
            </a:extLst>
          </p:cNvPr>
          <p:cNvSpPr txBox="1"/>
          <p:nvPr/>
        </p:nvSpPr>
        <p:spPr>
          <a:xfrm>
            <a:off x="616230" y="1840408"/>
            <a:ext cx="34175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8DCF5"/>
                </a:solidFill>
                <a:latin typeface="Aptos"/>
              </a:defRPr>
            </a:pPr>
            <a:r>
              <a:rPr lang="en-IN" dirty="0"/>
              <a:t>1  PLACE COMPONENTS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8DCF5"/>
                </a:solidFill>
                <a:latin typeface="Aptos"/>
              </a:defRPr>
            </a:pPr>
            <a:r>
              <a:rPr dirty="0"/>
              <a:t>PARITY LAB  /  DIGITAL LOGIC DESIGN                                      EXPO PROJECT  •  05/06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795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Simulation results &amp; 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C2DC"/>
                </a:solidFill>
                <a:latin typeface="Aptos"/>
              </a:defRPr>
            </a:pPr>
            <a:r>
              <a:t>Expected behavior for an even-parity checker: E=0 when total 1s are even; E=1 when odd.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609344"/>
            <a:ext cx="914400" cy="41148"/>
          </a:xfrm>
          <a:prstGeom prst="rect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56231"/>
            <a:ext cx="50292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8DCF5"/>
                </a:solidFill>
                <a:latin typeface="Aptos"/>
              </a:defRPr>
            </a:pPr>
            <a:r>
              <a:t>TEST VECTORS (REPRESENTATIVE)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67712"/>
            <a:ext cx="1874519" cy="393192"/>
          </a:xfrm>
          <a:prstGeom prst="rect">
            <a:avLst/>
          </a:prstGeom>
          <a:solidFill>
            <a:srgbClr val="1E345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2340864"/>
            <a:ext cx="1837943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8DCF5"/>
                </a:solidFill>
                <a:latin typeface="Aptos"/>
              </a:defRPr>
            </a:pPr>
            <a:r>
              <a:t>D3 D2 D1 D0 P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7" y="2267712"/>
            <a:ext cx="914400" cy="393192"/>
          </a:xfrm>
          <a:prstGeom prst="rect">
            <a:avLst/>
          </a:prstGeom>
          <a:solidFill>
            <a:srgbClr val="1E345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51175" y="2340864"/>
            <a:ext cx="87782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8DCF5"/>
                </a:solidFill>
                <a:latin typeface="Aptos"/>
              </a:defRPr>
            </a:pPr>
            <a:r>
              <a:t>Total 1s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287" y="2267712"/>
            <a:ext cx="594360" cy="393192"/>
          </a:xfrm>
          <a:prstGeom prst="rect">
            <a:avLst/>
          </a:prstGeom>
          <a:solidFill>
            <a:srgbClr val="1E345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65575" y="2340864"/>
            <a:ext cx="55778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8DCF5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2267712"/>
            <a:ext cx="1691640" cy="393192"/>
          </a:xfrm>
          <a:prstGeom prst="rect">
            <a:avLst/>
          </a:prstGeom>
          <a:solidFill>
            <a:srgbClr val="1E345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9935" y="2340864"/>
            <a:ext cx="165506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8DCF5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660904"/>
            <a:ext cx="1874519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" y="2734056"/>
            <a:ext cx="1837943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0 0 0 0 0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2887" y="2660904"/>
            <a:ext cx="914400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51175" y="2734056"/>
            <a:ext cx="87782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47287" y="2660904"/>
            <a:ext cx="594360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65575" y="2734056"/>
            <a:ext cx="55778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3FE6A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41648" y="2660904"/>
            <a:ext cx="1691640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59935" y="2734056"/>
            <a:ext cx="165506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Valid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054096"/>
            <a:ext cx="1874519" cy="393192"/>
          </a:xfrm>
          <a:prstGeom prst="rect">
            <a:avLst/>
          </a:prstGeom>
          <a:solidFill>
            <a:srgbClr val="131D37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3127248"/>
            <a:ext cx="1837943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0 0 0 0 1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32887" y="3054096"/>
            <a:ext cx="914400" cy="393192"/>
          </a:xfrm>
          <a:prstGeom prst="rect">
            <a:avLst/>
          </a:prstGeom>
          <a:solidFill>
            <a:srgbClr val="131D37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51175" y="3127248"/>
            <a:ext cx="87782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47287" y="3054096"/>
            <a:ext cx="594360" cy="393192"/>
          </a:xfrm>
          <a:prstGeom prst="rect">
            <a:avLst/>
          </a:prstGeom>
          <a:solidFill>
            <a:srgbClr val="131D37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65575" y="3127248"/>
            <a:ext cx="55778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5B7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41648" y="3054096"/>
            <a:ext cx="1691640" cy="393192"/>
          </a:xfrm>
          <a:prstGeom prst="rect">
            <a:avLst/>
          </a:prstGeom>
          <a:solidFill>
            <a:srgbClr val="131D37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59935" y="3127248"/>
            <a:ext cx="165506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Error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447288"/>
            <a:ext cx="1874519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6" y="3520440"/>
            <a:ext cx="1837943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0 0 0 1 1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32887" y="3447288"/>
            <a:ext cx="914400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551175" y="3520440"/>
            <a:ext cx="87782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47287" y="3447288"/>
            <a:ext cx="594360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65575" y="3520440"/>
            <a:ext cx="55778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3FE6A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41648" y="3447288"/>
            <a:ext cx="1691640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59935" y="3520440"/>
            <a:ext cx="165506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Valid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840480"/>
            <a:ext cx="1874519" cy="393192"/>
          </a:xfrm>
          <a:prstGeom prst="rect">
            <a:avLst/>
          </a:prstGeom>
          <a:solidFill>
            <a:srgbClr val="131D37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6656" y="3913632"/>
            <a:ext cx="1837943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1 0 1 0 0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32887" y="3840480"/>
            <a:ext cx="914400" cy="393192"/>
          </a:xfrm>
          <a:prstGeom prst="rect">
            <a:avLst/>
          </a:prstGeom>
          <a:solidFill>
            <a:srgbClr val="131D37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551175" y="3913632"/>
            <a:ext cx="87782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47287" y="3840480"/>
            <a:ext cx="594360" cy="393192"/>
          </a:xfrm>
          <a:prstGeom prst="rect">
            <a:avLst/>
          </a:prstGeom>
          <a:solidFill>
            <a:srgbClr val="131D37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65575" y="3913632"/>
            <a:ext cx="55778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3FE6A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41648" y="3840480"/>
            <a:ext cx="1691640" cy="393192"/>
          </a:xfrm>
          <a:prstGeom prst="rect">
            <a:avLst/>
          </a:prstGeom>
          <a:solidFill>
            <a:srgbClr val="131D37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59935" y="3913632"/>
            <a:ext cx="165506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Valid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233672"/>
            <a:ext cx="1874519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6656" y="4306824"/>
            <a:ext cx="1837943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1 0 1 0 1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32887" y="4233672"/>
            <a:ext cx="914400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551175" y="4306824"/>
            <a:ext cx="87782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47287" y="4233672"/>
            <a:ext cx="594360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65575" y="4306824"/>
            <a:ext cx="55778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5B7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41648" y="4233672"/>
            <a:ext cx="1691640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59935" y="4306824"/>
            <a:ext cx="165506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Error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4626864"/>
            <a:ext cx="1874519" cy="393192"/>
          </a:xfrm>
          <a:prstGeom prst="rect">
            <a:avLst/>
          </a:prstGeom>
          <a:solidFill>
            <a:srgbClr val="131D37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6656" y="4700016"/>
            <a:ext cx="1837943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1 1 1 1 0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32887" y="4626864"/>
            <a:ext cx="914400" cy="393192"/>
          </a:xfrm>
          <a:prstGeom prst="rect">
            <a:avLst/>
          </a:prstGeom>
          <a:solidFill>
            <a:srgbClr val="131D37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551175" y="4700016"/>
            <a:ext cx="87782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47287" y="4626864"/>
            <a:ext cx="594360" cy="393192"/>
          </a:xfrm>
          <a:prstGeom prst="rect">
            <a:avLst/>
          </a:prstGeom>
          <a:solidFill>
            <a:srgbClr val="131D37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65575" y="4700016"/>
            <a:ext cx="55778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3FE6A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41648" y="4626864"/>
            <a:ext cx="1691640" cy="393192"/>
          </a:xfrm>
          <a:prstGeom prst="rect">
            <a:avLst/>
          </a:prstGeom>
          <a:solidFill>
            <a:srgbClr val="131D37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59935" y="4700016"/>
            <a:ext cx="165506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Valid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5020056"/>
            <a:ext cx="1874519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76656" y="5093208"/>
            <a:ext cx="1837943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1 1 1 1 1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32887" y="5020056"/>
            <a:ext cx="914400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551175" y="5093208"/>
            <a:ext cx="87782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47287" y="5020056"/>
            <a:ext cx="594360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465575" y="5093208"/>
            <a:ext cx="55778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F5B7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41648" y="5020056"/>
            <a:ext cx="1691640" cy="393192"/>
          </a:xfrm>
          <a:prstGeom prst="rect">
            <a:avLst/>
          </a:prstGeom>
          <a:solidFill>
            <a:srgbClr val="10253A"/>
          </a:solidFill>
          <a:ln w="17780">
            <a:solidFill>
              <a:srgbClr val="2D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059935" y="5093208"/>
            <a:ext cx="1655064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Error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92240" y="1993392"/>
            <a:ext cx="4983480" cy="1024128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492240" y="1993392"/>
            <a:ext cx="54864" cy="1024128"/>
          </a:xfrm>
          <a:prstGeom prst="rect">
            <a:avLst/>
          </a:prstGeom>
          <a:solidFill>
            <a:srgbClr val="3F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656831" y="2112264"/>
            <a:ext cx="469087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FE6A5"/>
                </a:solidFill>
                <a:latin typeface="Aptos"/>
              </a:defRPr>
            </a:pPr>
            <a:r>
              <a:t>CASE A  •  VALID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56831" y="2468880"/>
            <a:ext cx="4690872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2F7FF"/>
                </a:solidFill>
                <a:latin typeface="Aptos"/>
              </a:defRPr>
            </a:pPr>
            <a:r>
              <a:t>Received bits: 1 0 1 0 1 → total 1s = 3 → E=1 (error detected)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92240" y="3273552"/>
            <a:ext cx="4983480" cy="1024128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492240" y="3273552"/>
            <a:ext cx="54864" cy="1024128"/>
          </a:xfrm>
          <a:prstGeom prst="rect">
            <a:avLst/>
          </a:prstGeom>
          <a:solidFill>
            <a:srgbClr val="3F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675120" y="3401568"/>
            <a:ext cx="44805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FE6A5"/>
                </a:solidFill>
                <a:latin typeface="Aptos"/>
              </a:defRPr>
            </a:pPr>
            <a:r>
              <a:t>CASE A  •  VALID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75120" y="3712463"/>
            <a:ext cx="448056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2F7FF"/>
                </a:solidFill>
                <a:latin typeface="Aptos"/>
              </a:defRPr>
            </a:pPr>
            <a:r>
              <a:t>Received bits: 1 0 1 0 0  →  two 1s  →  E = 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92240" y="4507992"/>
            <a:ext cx="4983480" cy="1024128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492240" y="4507992"/>
            <a:ext cx="54864" cy="1024128"/>
          </a:xfrm>
          <a:prstGeom prst="rect">
            <a:avLst/>
          </a:prstGeom>
          <a:solidFill>
            <a:srgbClr val="FF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675120" y="4636008"/>
            <a:ext cx="44805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5B70"/>
                </a:solidFill>
                <a:latin typeface="Aptos"/>
              </a:defRPr>
            </a:pPr>
            <a:r>
              <a:t>CASE B  •  ERROR DETECTED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75120" y="4946904"/>
            <a:ext cx="448056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2F7FF"/>
                </a:solidFill>
                <a:latin typeface="Aptos"/>
              </a:defRPr>
            </a:pPr>
            <a:r>
              <a:t>Received bits: 1 0 1 0 1  →  three 1s  →  E = 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0352" y="6537960"/>
            <a:ext cx="594360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B1C2DC"/>
                </a:solidFill>
                <a:latin typeface="Aptos"/>
              </a:defRPr>
            </a:pPr>
            <a:r>
              <a:t>DESIGN • SIMULATE • VERIFY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8DCF5"/>
                </a:solidFill>
                <a:latin typeface="Aptos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8DCF5"/>
                </a:solidFill>
                <a:latin typeface="Aptos"/>
              </a:defRPr>
            </a:pPr>
            <a:r>
              <a:t>PARITY LAB  /  DIGITAL LOGIC DESIGN                                      EXPO PROJECT  •  06/06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Conclusion, applications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C2DC"/>
                </a:solidFill>
                <a:latin typeface="Aptos"/>
              </a:defRPr>
            </a:pPr>
            <a:r>
              <a:t>A lightweight hardware check that demonstrates parity generation, XOR logic, and simulation-based verification.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609344"/>
            <a:ext cx="914400" cy="41148"/>
          </a:xfrm>
          <a:prstGeom prst="rect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474720" cy="1417320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4864" cy="1417320"/>
          </a:xfrm>
          <a:prstGeom prst="rect">
            <a:avLst/>
          </a:prstGeom>
          <a:solidFill>
            <a:srgbClr val="3F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93391"/>
            <a:ext cx="318211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FE6A5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50008"/>
            <a:ext cx="3182112" cy="8503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The XOR checker correctly flags received words with odd parity and accepts words with even parity.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474720" cy="1417320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54864" cy="1417320"/>
          </a:xfrm>
          <a:prstGeom prst="rect">
            <a:avLst/>
          </a:prstGeom>
          <a:solidFill>
            <a:srgbClr val="28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993391"/>
            <a:ext cx="318211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8DCF5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350008"/>
            <a:ext cx="3182112" cy="8503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2F7FF"/>
                </a:solidFill>
                <a:latin typeface="Aptos"/>
              </a:defRPr>
            </a:pPr>
            <a:r>
              <a:t>Serial links, memory checks, simple communication protocols, digital systems labs, and introductory fault detection.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74519"/>
            <a:ext cx="3474720" cy="1417320"/>
          </a:xfrm>
          <a:prstGeom prst="roundRect">
            <a:avLst/>
          </a:prstGeom>
          <a:solidFill>
            <a:srgbClr val="142041"/>
          </a:solidFill>
          <a:ln w="17780">
            <a:solidFill>
              <a:srgbClr val="2B3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874519"/>
            <a:ext cx="54864" cy="141732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1993391"/>
            <a:ext cx="318211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FB347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350008"/>
            <a:ext cx="3182112" cy="8503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2F7FF"/>
                </a:solidFill>
                <a:latin typeface="Aptos"/>
              </a:defRPr>
            </a:pPr>
            <a:r>
              <a:t>Parity detects any odd number of bit flips, but can miss an even number of bit flips; it cannot locate or correct an error.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94760"/>
            <a:ext cx="38404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8DCF5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9" name="Oval 18"/>
          <p:cNvSpPr/>
          <p:nvPr/>
        </p:nvSpPr>
        <p:spPr>
          <a:xfrm>
            <a:off x="749808" y="4270248"/>
            <a:ext cx="228600" cy="228600"/>
          </a:xfrm>
          <a:prstGeom prst="ellipse">
            <a:avLst/>
          </a:prstGeom>
          <a:solidFill>
            <a:srgbClr val="183D50"/>
          </a:solidFill>
          <a:ln w="17780">
            <a:solidFill>
              <a:srgbClr val="2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4293108"/>
            <a:ext cx="192024" cy="1554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8DCF5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261104"/>
            <a:ext cx="97840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2F7FF"/>
                </a:solidFill>
                <a:latin typeface="Aptos"/>
              </a:defRPr>
            </a:pPr>
            <a:r>
              <a:t>Add a parity generator at the transmitter and a checker at the receiver.</a:t>
            </a:r>
          </a:p>
        </p:txBody>
      </p:sp>
      <p:sp>
        <p:nvSpPr>
          <p:cNvPr id="22" name="Oval 21"/>
          <p:cNvSpPr/>
          <p:nvPr/>
        </p:nvSpPr>
        <p:spPr>
          <a:xfrm>
            <a:off x="749808" y="4773168"/>
            <a:ext cx="228600" cy="228600"/>
          </a:xfrm>
          <a:prstGeom prst="ellipse">
            <a:avLst/>
          </a:prstGeom>
          <a:solidFill>
            <a:srgbClr val="183D50"/>
          </a:solidFill>
          <a:ln w="17780">
            <a:solidFill>
              <a:srgbClr val="2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4796028"/>
            <a:ext cx="192024" cy="1554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8DCF5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764024"/>
            <a:ext cx="97840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2F7FF"/>
                </a:solidFill>
                <a:latin typeface="Aptos"/>
              </a:defRPr>
            </a:pPr>
            <a:r>
              <a:t>Display PASS / ERROR with LEDs and add switch-based test vectors.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5276088"/>
            <a:ext cx="228600" cy="228600"/>
          </a:xfrm>
          <a:prstGeom prst="ellipse">
            <a:avLst/>
          </a:prstGeom>
          <a:solidFill>
            <a:srgbClr val="183D50"/>
          </a:solidFill>
          <a:ln w="17780">
            <a:solidFill>
              <a:srgbClr val="2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5298948"/>
            <a:ext cx="192024" cy="1554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8DCF5"/>
                </a:solidFill>
                <a:latin typeface="Aptos"/>
              </a:defRPr>
            </a:pPr>
            <a:r>
              <a:rPr dirty="0"/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5266944"/>
            <a:ext cx="97840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2F7FF"/>
                </a:solidFill>
                <a:latin typeface="Aptos"/>
              </a:defRPr>
            </a:pPr>
            <a:r>
              <a:t>Extend to two-dimensional parity or use a Hamming code for error correction.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57400" y="5897880"/>
            <a:ext cx="8046720" cy="411480"/>
          </a:xfrm>
          <a:prstGeom prst="roundRect">
            <a:avLst/>
          </a:prstGeom>
          <a:solidFill>
            <a:srgbClr val="14294D"/>
          </a:solidFill>
          <a:ln w="17780"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57400" y="5989320"/>
            <a:ext cx="7772400" cy="39395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28DCF5"/>
                </a:solidFill>
                <a:latin typeface="Aptos"/>
              </a:defRPr>
            </a:pPr>
            <a:r>
              <a:rPr sz="1600" dirty="0"/>
              <a:t>THANK 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37960"/>
            <a:ext cx="594360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B1C2DC"/>
                </a:solidFill>
                <a:latin typeface="Aptos"/>
              </a:defRPr>
            </a:pPr>
            <a:r>
              <a:t>DESIGN • SIMULATE • 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8DCF5"/>
                </a:solidFill>
                <a:latin typeface="Aptos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816</Words>
  <Application>Microsoft Office PowerPoint</Application>
  <PresentationFormat>Widescreen</PresentationFormat>
  <Paragraphs>147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&amp; Simulation of a Digital Error Detection System Using Parity</dc:title>
  <dc:subject>Six-slide digital logic project expo presentation</dc:subject>
  <dc:creator>Project Team</dc:creator>
  <cp:keywords>parity, XOR, Logisim, digital logic, error detection</cp:keywords>
  <dc:description>generated using python-pptx</dc:description>
  <cp:lastModifiedBy>USER</cp:lastModifiedBy>
  <cp:revision>2</cp:revision>
  <dcterms:created xsi:type="dcterms:W3CDTF">2013-01-27T09:14:16Z</dcterms:created>
  <dcterms:modified xsi:type="dcterms:W3CDTF">2026-10-14T17:50:38Z</dcterms:modified>
  <cp:category/>
</cp:coreProperties>
</file>